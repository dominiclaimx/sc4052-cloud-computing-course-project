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3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7C3AED">
                <a:alpha val="9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37B-43A1-8F9C-716C2650384C}"/>
              </c:ext>
            </c:extLst>
          </c:dPt>
          <c:dPt>
            <c:idx val="1"/>
            <c:invertIfNegative val="0"/>
            <c:bubble3D val="0"/>
            <c:spPr>
              <a:solidFill>
                <a:srgbClr val="00D9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7B-43A1-8F9C-716C2650384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1F5F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Round 1</c:v>
                </c:pt>
                <c:pt idx="1">
                  <c:v>Round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7B-43A1-8F9C-716C265038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2A31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8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30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15600" y="566928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0" y="768096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0" y="969264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0" y="1170432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6768" y="365760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16768" y="566928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716768" y="768096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16768" y="969264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716768" y="1170432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17936" y="365760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17936" y="566928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17936" y="768096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17936" y="969264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17936" y="1170432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119104" y="365760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119104" y="566928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119104" y="768096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19104" y="969264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119104" y="1170432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320272" y="365760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320272" y="566928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320272" y="768096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320272" y="969264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320272" y="1170432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521440" y="365760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521440" y="566928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521440" y="768096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521440" y="969264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521440" y="1170432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722608" y="365760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722608" y="566928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722608" y="768096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722608" y="969264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722608" y="1170432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923776" y="365760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1923776" y="566928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923776" y="768096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923776" y="969264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923776" y="1170432"/>
            <a:ext cx="36576" cy="36576"/>
          </a:xfrm>
          <a:prstGeom prst="ellipse">
            <a:avLst/>
          </a:prstGeom>
          <a:solidFill>
            <a:srgbClr val="00D9FF">
              <a:alpha val="30000"/>
            </a:srgbClr>
          </a:solidFill>
          <a:ln w="12700">
            <a:solidFill>
              <a:srgbClr val="0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SaaS-BASED AGENTIC ENGINEERING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Debate Preparation</a:t>
            </a:r>
            <a:endParaRPr lang="en-US" sz="6400" dirty="0"/>
          </a:p>
        </p:txBody>
      </p:sp>
      <p:sp>
        <p:nvSpPr>
          <p:cNvPr id="45" name="Text 43"/>
          <p:cNvSpPr/>
          <p:nvPr/>
        </p:nvSpPr>
        <p:spPr>
          <a:xfrm>
            <a:off x="73152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</a:t>
            </a:r>
            <a:endParaRPr lang="en-US" sz="6400" dirty="0"/>
          </a:p>
        </p:txBody>
      </p:sp>
      <p:sp>
        <p:nvSpPr>
          <p:cNvPr id="46" name="Text 44"/>
          <p:cNvSpPr/>
          <p:nvPr/>
        </p:nvSpPr>
        <p:spPr>
          <a:xfrm>
            <a:off x="73152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Decomposition × TextGrad Differentiation on Nemobot</a:t>
            </a:r>
            <a:endParaRPr lang="en-US" sz="1900" dirty="0"/>
          </a:p>
        </p:txBody>
      </p:sp>
      <p:sp>
        <p:nvSpPr>
          <p:cNvPr id="47" name="Shape 45"/>
          <p:cNvSpPr/>
          <p:nvPr/>
        </p:nvSpPr>
        <p:spPr>
          <a:xfrm>
            <a:off x="731520" y="4480560"/>
            <a:ext cx="73152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554480" y="4453128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691640" y="4480560"/>
            <a:ext cx="3657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15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Dominic Lai Meng Xuan ·  domi0015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31520" y="5394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Computing and Data Science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31520" y="5669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Nanyang Technological University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" y="6172200"/>
            <a:ext cx="2011680" cy="347472"/>
          </a:xfrm>
          <a:prstGeom prst="rect">
            <a:avLst/>
          </a:prstGeom>
          <a:solidFill>
            <a:srgbClr val="1E2435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1520" y="6172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SC4052 Cloud Computing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274320"/>
            <a:ext cx="137160" cy="1828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0" y="274320"/>
            <a:ext cx="18288" cy="1371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debate prep breaks a single prompt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420624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73152" cy="42062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DEBATE PREP REQUIRES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6791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strong arguments with evidence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319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Anticipating adversarial counterarguments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959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persuasive rebuttals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5994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Self-evaluating quality across dimensions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" y="5239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into a coherent final brief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5486400" cy="420624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73152" cy="4206240"/>
          </a:xfrm>
          <a:prstGeom prst="rect">
            <a:avLst/>
          </a:prstGeom>
          <a:solidFill>
            <a:srgbClr val="FF4655"/>
          </a:solidFill>
          <a:ln w="12700">
            <a:solidFill>
              <a:srgbClr val="FF465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1168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12280" y="2029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MONOLITHIC PROMPT PRODUCES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537960" y="2606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outputs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37960" y="28986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claims without concrete evidence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53796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reasoning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537960" y="36758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Rebuttals may contradict arguments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53796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self-correction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537960" y="4453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One-pass generation with no refinement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537960" y="4937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structure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537960" y="5230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vulnerabilities or closing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2A3149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274320"/>
            <a:ext cx="137160" cy="1828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0" y="274320"/>
            <a:ext cx="18288" cy="1371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techniques from recent research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00" cy="4572000"/>
          </a:xfrm>
          <a:prstGeom prst="rect">
            <a:avLst/>
          </a:prstGeom>
          <a:solidFill>
            <a:srgbClr val="141824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00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214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// DECOMPOSITION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Khot et al.  ·  ICLR 2023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77240" y="3425110"/>
            <a:ext cx="109728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Text 10"/>
          <p:cNvSpPr/>
          <p:nvPr/>
        </p:nvSpPr>
        <p:spPr>
          <a:xfrm>
            <a:off x="777240" y="360799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388231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tasks into modular sub-prompts. A decomposer LLM plans which tools to call, and each handler solves one focused sub-task.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7240" y="5210137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ANALOGY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5484457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many small functions instead of one monolithic script.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solidFill>
            <a:srgbClr val="141824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Shape 15"/>
          <p:cNvSpPr/>
          <p:nvPr/>
        </p:nvSpPr>
        <p:spPr>
          <a:xfrm>
            <a:off x="6217920" y="1737360"/>
            <a:ext cx="54864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10312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8040" y="21214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// DIFFERENTIATION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53796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Yuksekgonul et al.  ·  Nature 2024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6537960" y="3502934"/>
            <a:ext cx="10972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4" name="Text 20"/>
          <p:cNvSpPr/>
          <p:nvPr/>
        </p:nvSpPr>
        <p:spPr>
          <a:xfrm>
            <a:off x="6537960" y="368581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6537960" y="3960134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evaluator LLM scores outputs and produces natural language "gradients" — specific improvement instructions fed back to refine earlier stages.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6537960" y="52587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ANALOGY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6537960" y="55331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descent, but with words instead of numbers.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2A3149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274320"/>
            <a:ext cx="137160" cy="1828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0" y="274320"/>
            <a:ext cx="18288" cy="1371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1247120" cy="822960"/>
          </a:xfrm>
          <a:prstGeom prst="rect">
            <a:avLst/>
          </a:prstGeom>
          <a:solidFill>
            <a:srgbClr val="141824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73152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22109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PHASE_01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 LLM plans the pipeline dynamically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48272" y="2285998"/>
            <a:ext cx="4764608" cy="1371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produces JSON execution plan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80760" y="260604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PHASE_02  //  DECOMP EXECUTION + TEXTGRAD LOOP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3337560"/>
            <a:ext cx="2560320" cy="100584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256032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46120" y="38404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3429000" y="3337560"/>
            <a:ext cx="2560320" cy="100584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Shape 18"/>
          <p:cNvSpPr/>
          <p:nvPr/>
        </p:nvSpPr>
        <p:spPr>
          <a:xfrm>
            <a:off x="3429000" y="3337560"/>
            <a:ext cx="256032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361188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1188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1188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989320" y="38404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" name="Shape 23"/>
          <p:cNvSpPr/>
          <p:nvPr/>
        </p:nvSpPr>
        <p:spPr>
          <a:xfrm>
            <a:off x="6172200" y="3337560"/>
            <a:ext cx="2560320" cy="100584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6" name="Shape 24"/>
          <p:cNvSpPr/>
          <p:nvPr/>
        </p:nvSpPr>
        <p:spPr>
          <a:xfrm>
            <a:off x="6172200" y="3337560"/>
            <a:ext cx="256032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635508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5508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732520" y="384048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31" name="Shape 29"/>
          <p:cNvSpPr/>
          <p:nvPr/>
        </p:nvSpPr>
        <p:spPr>
          <a:xfrm>
            <a:off x="8915400" y="3337560"/>
            <a:ext cx="2560320" cy="1005840"/>
          </a:xfrm>
          <a:prstGeom prst="rect">
            <a:avLst/>
          </a:prstGeom>
          <a:solidFill>
            <a:srgbClr val="1E24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2" name="Shape 30"/>
          <p:cNvSpPr/>
          <p:nvPr/>
        </p:nvSpPr>
        <p:spPr>
          <a:xfrm>
            <a:off x="8915400" y="3337560"/>
            <a:ext cx="25603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3" name="Text 31"/>
          <p:cNvSpPr/>
          <p:nvPr/>
        </p:nvSpPr>
        <p:spPr>
          <a:xfrm>
            <a:off x="909828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09828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98280" y="401567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gradients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0195560" y="4343400"/>
            <a:ext cx="0" cy="365760"/>
          </a:xfrm>
          <a:prstGeom prst="line">
            <a:avLst/>
          </a:prstGeom>
          <a:noFill/>
          <a:ln w="25400">
            <a:solidFill>
              <a:srgbClr val="FF4655"/>
            </a:solidFill>
            <a:prstDash val="dash"/>
          </a:ln>
        </p:spPr>
        <p:txBody>
          <a:bodyPr/>
          <a:lstStyle/>
          <a:p>
            <a:endParaRPr lang="en-US" sz="2000"/>
          </a:p>
        </p:txBody>
      </p:sp>
      <p:sp>
        <p:nvSpPr>
          <p:cNvPr id="37" name="Shape 35"/>
          <p:cNvSpPr/>
          <p:nvPr/>
        </p:nvSpPr>
        <p:spPr>
          <a:xfrm>
            <a:off x="1965960" y="4709160"/>
            <a:ext cx="8229600" cy="0"/>
          </a:xfrm>
          <a:prstGeom prst="line">
            <a:avLst/>
          </a:prstGeom>
          <a:noFill/>
          <a:ln w="25400">
            <a:solidFill>
              <a:srgbClr val="FF4655"/>
            </a:solidFill>
            <a:prstDash val="dash"/>
          </a:ln>
        </p:spPr>
        <p:txBody>
          <a:bodyPr/>
          <a:lstStyle/>
          <a:p>
            <a:endParaRPr lang="en-US" sz="2000"/>
          </a:p>
        </p:txBody>
      </p:sp>
      <p:sp>
        <p:nvSpPr>
          <p:cNvPr id="38" name="Shape 36"/>
          <p:cNvSpPr/>
          <p:nvPr/>
        </p:nvSpPr>
        <p:spPr>
          <a:xfrm>
            <a:off x="1965960" y="4343400"/>
            <a:ext cx="0" cy="365760"/>
          </a:xfrm>
          <a:prstGeom prst="line">
            <a:avLst/>
          </a:prstGeom>
          <a:noFill/>
          <a:ln w="25400">
            <a:solidFill>
              <a:srgbClr val="FF4655"/>
            </a:solidFill>
            <a:prstDash val="dash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39" name="Text 37"/>
          <p:cNvSpPr/>
          <p:nvPr/>
        </p:nvSpPr>
        <p:spPr>
          <a:xfrm>
            <a:off x="685800" y="47548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&lt; 8 → textual gradients flow back to refine stages 01-03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080760" y="516636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41" name="Shape 39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141824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2" name="Shape 40"/>
          <p:cNvSpPr/>
          <p:nvPr/>
        </p:nvSpPr>
        <p:spPr>
          <a:xfrm>
            <a:off x="457200" y="5486400"/>
            <a:ext cx="73152" cy="77724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3" name="Text 41"/>
          <p:cNvSpPr/>
          <p:nvPr/>
        </p:nvSpPr>
        <p:spPr>
          <a:xfrm>
            <a:off x="731519" y="5577840"/>
            <a:ext cx="19241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PHASE_03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 produces the podium-ready debate brief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2A3149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274320"/>
            <a:ext cx="137160" cy="1828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0" y="274320"/>
            <a:ext cx="18288" cy="1371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LLM functions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has a dedicated system prompt in Nemobot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657600" cy="2258768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657600" cy="73152"/>
          </a:xfrm>
          <a:prstGeom prst="rect">
            <a:avLst/>
          </a:prstGeom>
          <a:solidFill>
            <a:srgbClr val="FF4655"/>
          </a:solidFill>
          <a:ln w="12700">
            <a:solidFill>
              <a:srgbClr val="FF465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9728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FF465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decomposer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task and outputs a JSON plan of which tools to call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1960" y="1828800"/>
            <a:ext cx="3657600" cy="2258768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4251960" y="1828800"/>
            <a:ext cx="365760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4480560" y="2103120"/>
            <a:ext cx="109728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448056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extract_arguments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specialist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056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3 claims with evidence and reasoning types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0" y="1828800"/>
            <a:ext cx="3657600" cy="2258768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8001000" y="1828800"/>
            <a:ext cx="365760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8229600" y="2103120"/>
            <a:ext cx="109728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822960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generate_counter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analyst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strongest counterarguments an opponent would make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4224728"/>
            <a:ext cx="3657600" cy="2258768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502920" y="4224728"/>
            <a:ext cx="365760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731520" y="4499048"/>
            <a:ext cx="109728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731520" y="4499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4910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generate_rebuttal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5322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strategist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" y="5596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 replies following acknowledge-redirect-reinforce structure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51960" y="4224728"/>
            <a:ext cx="3657600" cy="2258768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Shape 34"/>
          <p:cNvSpPr/>
          <p:nvPr/>
        </p:nvSpPr>
        <p:spPr>
          <a:xfrm>
            <a:off x="4251960" y="4224728"/>
            <a:ext cx="3657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4480560" y="4499048"/>
            <a:ext cx="109728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4480560" y="4499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TEXTGRAD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0560" y="4910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evaluate_brief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80560" y="5322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TextGrad evaluator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80560" y="5596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across 5 dimensions and produces textual gradients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01000" y="4224728"/>
            <a:ext cx="3657600" cy="2258768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8001000" y="4224728"/>
            <a:ext cx="3657600" cy="73152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4" name="Shape 42"/>
          <p:cNvSpPr/>
          <p:nvPr/>
        </p:nvSpPr>
        <p:spPr>
          <a:xfrm>
            <a:off x="8229600" y="4499048"/>
            <a:ext cx="109728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8229600" y="4499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29600" y="4910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final_synthesiser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29600" y="5322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29600" y="5596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podium-ready debate brief document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2A3149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274320"/>
            <a:ext cx="137160" cy="1828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0" y="274320"/>
            <a:ext cx="18288" cy="1371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in action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77724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73152" cy="77724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USER_INPUT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"Social media is an overall boon to society. Position: Against."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486400" cy="393192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5486400" cy="73152"/>
          </a:xfrm>
          <a:prstGeom prst="rect">
            <a:avLst/>
          </a:prstGeom>
          <a:solidFill>
            <a:srgbClr val="FF4655"/>
          </a:solidFill>
          <a:ln w="12700">
            <a:solidFill>
              <a:srgbClr val="FF46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decomposer.plan() // 4s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799" y="3108960"/>
            <a:ext cx="54961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extract_arguments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7280" y="3319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core arguments against the position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3730752"/>
            <a:ext cx="5496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3685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generate_counter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7280" y="39410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opposing claims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800" y="4352544"/>
            <a:ext cx="5496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7280" y="4306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generate_rebuttal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97280" y="4562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strong responses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800" y="4974336"/>
            <a:ext cx="5496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97280" y="49286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evaluate_brief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97280" y="5184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quality and produce gradients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5800" y="5596128"/>
            <a:ext cx="5496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97280" y="5550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final_synthesiser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9728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podium-ready output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217920" y="2514600"/>
            <a:ext cx="5486400" cy="393192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2514600"/>
            <a:ext cx="548640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4652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extract_arguments() // argument[0]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46520" y="31089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46520" y="3337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significantly contributes to mental health issues among users.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46520" y="39776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46520" y="4284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empirical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46520" y="46498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46520" y="4878424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in the American Journal of Preventive Medicine found individuals spending &gt;2 hours/day on social media report poor mental health — over 30% indicate loneliness.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2A3149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274320"/>
            <a:ext cx="137160" cy="1828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0" y="274320"/>
            <a:ext cx="18288" cy="1371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TextGrad in action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475488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PROGRESSION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" y="2286000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685800" y="5349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IMPROVEMENTS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5669280"/>
            <a:ext cx="1554480" cy="59436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5687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5989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Specificity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77440" y="5669280"/>
            <a:ext cx="1554480" cy="59436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377440" y="5687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377440" y="5989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Persuasiveness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069080" y="5669280"/>
            <a:ext cx="1554480" cy="59436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069080" y="5687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69080" y="5989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Adv. strength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17920" y="1691640"/>
            <a:ext cx="5486400" cy="475488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17920" y="1691640"/>
            <a:ext cx="5486400" cy="73152"/>
          </a:xfrm>
          <a:prstGeom prst="rect">
            <a:avLst/>
          </a:prstGeom>
          <a:solidFill>
            <a:srgbClr val="FF4655"/>
          </a:solidFill>
          <a:ln w="12700">
            <a:solidFill>
              <a:srgbClr val="FF46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4652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ARGUMENT[0] // BEFORE → AFTER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 round 1, score 7.0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446520" y="2560320"/>
            <a:ext cx="73152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675120" y="25603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"Individuals who spend more than 2 hours a day on social media are more likely to report poor mental health, with 30%+ indicating loneliness."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446520" y="39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 round 2, score 8.0</a:t>
            </a: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6446520" y="4260720"/>
            <a:ext cx="73152" cy="210312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75120" y="426072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study by the University of Pennsylvania found that reducing social media use to just 30 minutes a day led to a significant decrease in feelings of loneliness and depression, with 1 in 3 reporting improved mental health after only three weeks."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2A3149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274320"/>
            <a:ext cx="137160" cy="1828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0" y="274320"/>
            <a:ext cx="18288" cy="1371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brief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875520" y="731520"/>
            <a:ext cx="1828800" cy="640080"/>
          </a:xfrm>
          <a:prstGeom prst="rect">
            <a:avLst/>
          </a:prstGeom>
          <a:solidFill>
            <a:srgbClr val="141824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552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47120" cy="480060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OPENING_STATEMENT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"Social media, often hailed as a tool for connection, is instead a catalyst for mental health crises, misinformation, and societal division."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10698480" cy="0"/>
          </a:xfrm>
          <a:prstGeom prst="line">
            <a:avLst/>
          </a:prstGeom>
          <a:noFill/>
          <a:ln w="9525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731520" y="2995144"/>
            <a:ext cx="3520440" cy="1600200"/>
          </a:xfrm>
          <a:prstGeom prst="rect">
            <a:avLst/>
          </a:prstGeom>
          <a:solidFill>
            <a:srgbClr val="1E2435"/>
          </a:solidFill>
          <a:ln w="635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731520" y="2995144"/>
            <a:ext cx="73152" cy="16002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960120" y="308658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ARGUMENT_1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3151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68094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18386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cutting to 30min/day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43400" y="2995144"/>
            <a:ext cx="3520440" cy="1600200"/>
          </a:xfrm>
          <a:prstGeom prst="rect">
            <a:avLst/>
          </a:prstGeom>
          <a:solidFill>
            <a:srgbClr val="1E2435"/>
          </a:solidFill>
          <a:ln w="635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4343400" y="2995144"/>
            <a:ext cx="73152" cy="16002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4572000" y="308658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ARGUMENT_2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33151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368094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418386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for false news to spread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55280" y="2995144"/>
            <a:ext cx="3520440" cy="1600200"/>
          </a:xfrm>
          <a:prstGeom prst="rect">
            <a:avLst/>
          </a:prstGeom>
          <a:solidFill>
            <a:srgbClr val="1E2435"/>
          </a:solidFill>
          <a:ln w="635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7955280" y="2995144"/>
            <a:ext cx="73152" cy="16002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8183880" y="308658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ARGUMENT_3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83880" y="33151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83880" y="368094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83880" y="418386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see division increase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1520" y="4686784"/>
            <a:ext cx="5349240" cy="1805456"/>
          </a:xfrm>
          <a:prstGeom prst="rect">
            <a:avLst/>
          </a:prstGeom>
          <a:solidFill>
            <a:srgbClr val="1E2435"/>
          </a:solidFill>
          <a:ln w="635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59736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234440" y="4787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KEY_VULNERABILITIES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14400" y="5079776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vs correlation attacks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misinformation argument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societal polarization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55080" y="4686783"/>
            <a:ext cx="5349240" cy="1787167"/>
          </a:xfrm>
          <a:prstGeom prst="rect">
            <a:avLst/>
          </a:prstGeom>
          <a:solidFill>
            <a:srgbClr val="1E2435"/>
          </a:solidFill>
          <a:ln w="635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759736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858000" y="4787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CLOSING_STATEMENT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6537960" y="5079776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"Social media is not the harmless connector it claims to be — we must confront the stark reality of its consequences and advocate for a future that prioritizes well-being over fleeting online interactions."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2A3149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274320"/>
            <a:ext cx="137160" cy="1828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00" y="274320"/>
            <a:ext cx="18288" cy="1371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42607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limitations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380353"/>
            <a:ext cx="5486400" cy="4754880"/>
          </a:xfrm>
          <a:prstGeom prst="rect">
            <a:avLst/>
          </a:prstGeom>
          <a:solidFill>
            <a:srgbClr val="141824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457200" y="1380353"/>
            <a:ext cx="73152" cy="475488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63233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60895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WHAT_WORKED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202043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planning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2340473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decomposer genuinely reasoned about the task and chose appropriate tools — not a hardcoded pipeline.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7240" y="332783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improvement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7240" y="3647873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TextGrad lifted scores from 7.0 to 8.0 in one refinement pass, with specificity gaining +2 points.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475196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Synergistic combination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7240" y="507200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creates well-defined variables that TextGrad can optimize — the techniques complement each other.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17920" y="1380353"/>
            <a:ext cx="5486400" cy="4754880"/>
          </a:xfrm>
          <a:prstGeom prst="rect">
            <a:avLst/>
          </a:prstGeom>
          <a:solidFill>
            <a:srgbClr val="141824"/>
          </a:solidFill>
          <a:ln w="12700">
            <a:solidFill>
              <a:srgbClr val="FF465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Shape 16"/>
          <p:cNvSpPr/>
          <p:nvPr/>
        </p:nvSpPr>
        <p:spPr>
          <a:xfrm>
            <a:off x="6186923" y="1380353"/>
            <a:ext cx="73152" cy="4754880"/>
          </a:xfrm>
          <a:prstGeom prst="rect">
            <a:avLst/>
          </a:prstGeom>
          <a:solidFill>
            <a:srgbClr val="FF4655"/>
          </a:solidFill>
          <a:ln w="12700">
            <a:solidFill>
              <a:srgbClr val="FF465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563233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03720" y="160895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4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537960" y="202043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evidence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537960" y="2340473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Nemobot's sandbox blocks external APIs, so we can't ground evidence in real search results — LLM may invent plausible statistics.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537960" y="3240285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Single-evaluator bias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6537960" y="3560325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evaluator uses the same underlying LLM as the generators, which may share systematic blind spots.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6537960" y="4493211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Non-monotonic convergence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6537960" y="4813251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don't always strictly increase each round — TextGrad isn't guaranteed to improve monotonically.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0" y="6537960"/>
            <a:ext cx="12161520" cy="13716"/>
          </a:xfrm>
          <a:prstGeom prst="rect">
            <a:avLst/>
          </a:prstGeom>
          <a:solidFill>
            <a:srgbClr val="2A3149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828800" y="4620637"/>
            <a:ext cx="73152" cy="73152"/>
          </a:xfrm>
          <a:prstGeom prst="ellipse">
            <a:avLst/>
          </a:prstGeom>
          <a:solidFill>
            <a:srgbClr val="00D9FF">
              <a:alpha val="40000"/>
            </a:srgbClr>
          </a:solidFill>
          <a:ln w="12700">
            <a:solidFill>
              <a:srgbClr val="00D9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61520" cy="1828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731520" y="311187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FUTURE_WORK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" y="3431917"/>
            <a:ext cx="3520440" cy="141732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14797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0" y="3614797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Tool-augmented grounding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60120" y="4071997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external search APIs for verifiable evidence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343400" y="3431917"/>
            <a:ext cx="3520440" cy="141732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614797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83480" y="3614797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Multi-evaluator consensus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4572000" y="4071997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single-evaluator bias with diverse critics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7955280" y="3431917"/>
            <a:ext cx="3520440" cy="1417320"/>
          </a:xfrm>
          <a:prstGeom prst="rect">
            <a:avLst/>
          </a:prstGeom>
          <a:solidFill>
            <a:srgbClr val="141824"/>
          </a:solidFill>
          <a:ln w="1270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3614797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595360" y="3614797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engineering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8183880" y="4071997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design its own pipeline architecture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731520" y="6488352"/>
            <a:ext cx="10698480" cy="0"/>
          </a:xfrm>
          <a:prstGeom prst="line">
            <a:avLst/>
          </a:prstGeom>
          <a:noFill/>
          <a:ln w="6350">
            <a:solidFill>
              <a:srgbClr val="2A314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882</Words>
  <Application>Microsoft Office PowerPoint</Application>
  <PresentationFormat>Widescreen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SaaS-based Agentic Engineering: Debate Preparation Coach</dc:title>
  <dc:subject>PptxGenJS Presentation</dc:subject>
  <dc:creator>Debate Coach Project</dc:creator>
  <cp:lastModifiedBy>#DOMINIC LAI MENG XUAN#</cp:lastModifiedBy>
  <cp:revision>4</cp:revision>
  <dcterms:created xsi:type="dcterms:W3CDTF">2026-04-16T08:41:05Z</dcterms:created>
  <dcterms:modified xsi:type="dcterms:W3CDTF">2026-04-16T09:38:36Z</dcterms:modified>
</cp:coreProperties>
</file>